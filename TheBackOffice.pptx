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3A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CAPACITI  ·  AI SKILL ACCELERATOR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42316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F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Back Office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for the admin side of running a small business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rot="-300000">
            <a:off x="9418320" y="7772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2E362A"/>
          </a:solidFill>
          <a:ln w="25400">
            <a:solidFill>
              <a:srgbClr val="A63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 rot="-300000">
            <a:off x="9418320" y="77724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950" b="1" spc="100" kern="0" dirty="0">
                <a:solidFill>
                  <a:srgbClr val="A6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FOR BUSINESS</a:t>
            </a:r>
            <a:endParaRPr lang="en-US" sz="9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A6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DECK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8" name="Shape 6"/>
          <p:cNvSpPr/>
          <p:nvPr/>
        </p:nvSpPr>
        <p:spPr>
          <a:xfrm>
            <a:off x="1132242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9" name="Shape 7"/>
          <p:cNvSpPr/>
          <p:nvPr/>
        </p:nvSpPr>
        <p:spPr>
          <a:xfrm>
            <a:off x="1441525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0" name="Shape 8"/>
          <p:cNvSpPr/>
          <p:nvPr/>
        </p:nvSpPr>
        <p:spPr>
          <a:xfrm>
            <a:off x="1750807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1" name="Shape 9"/>
          <p:cNvSpPr/>
          <p:nvPr/>
        </p:nvSpPr>
        <p:spPr>
          <a:xfrm>
            <a:off x="2060089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2" name="Shape 10"/>
          <p:cNvSpPr/>
          <p:nvPr/>
        </p:nvSpPr>
        <p:spPr>
          <a:xfrm>
            <a:off x="2369372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3" name="Shape 11"/>
          <p:cNvSpPr/>
          <p:nvPr/>
        </p:nvSpPr>
        <p:spPr>
          <a:xfrm>
            <a:off x="2678654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87936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7219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6" name="Shape 14"/>
          <p:cNvSpPr/>
          <p:nvPr/>
        </p:nvSpPr>
        <p:spPr>
          <a:xfrm>
            <a:off x="3606501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7" name="Shape 15"/>
          <p:cNvSpPr/>
          <p:nvPr/>
        </p:nvSpPr>
        <p:spPr>
          <a:xfrm>
            <a:off x="3915784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8" name="Shape 16"/>
          <p:cNvSpPr/>
          <p:nvPr/>
        </p:nvSpPr>
        <p:spPr>
          <a:xfrm>
            <a:off x="4225066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34348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3631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1" name="Shape 19"/>
          <p:cNvSpPr/>
          <p:nvPr/>
        </p:nvSpPr>
        <p:spPr>
          <a:xfrm>
            <a:off x="5152913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2" name="Shape 20"/>
          <p:cNvSpPr/>
          <p:nvPr/>
        </p:nvSpPr>
        <p:spPr>
          <a:xfrm>
            <a:off x="5462195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3" name="Shape 21"/>
          <p:cNvSpPr/>
          <p:nvPr/>
        </p:nvSpPr>
        <p:spPr>
          <a:xfrm>
            <a:off x="5771478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4" name="Shape 22"/>
          <p:cNvSpPr/>
          <p:nvPr/>
        </p:nvSpPr>
        <p:spPr>
          <a:xfrm>
            <a:off x="6080760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5" name="Shape 23"/>
          <p:cNvSpPr/>
          <p:nvPr/>
        </p:nvSpPr>
        <p:spPr>
          <a:xfrm>
            <a:off x="6390042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6" name="Shape 24"/>
          <p:cNvSpPr/>
          <p:nvPr/>
        </p:nvSpPr>
        <p:spPr>
          <a:xfrm>
            <a:off x="6699325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7" name="Shape 25"/>
          <p:cNvSpPr/>
          <p:nvPr/>
        </p:nvSpPr>
        <p:spPr>
          <a:xfrm>
            <a:off x="7008607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7889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9" name="Shape 27"/>
          <p:cNvSpPr/>
          <p:nvPr/>
        </p:nvSpPr>
        <p:spPr>
          <a:xfrm>
            <a:off x="7627172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0" name="Shape 28"/>
          <p:cNvSpPr/>
          <p:nvPr/>
        </p:nvSpPr>
        <p:spPr>
          <a:xfrm>
            <a:off x="7936454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1" name="Shape 29"/>
          <p:cNvSpPr/>
          <p:nvPr/>
        </p:nvSpPr>
        <p:spPr>
          <a:xfrm>
            <a:off x="8245736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2" name="Shape 30"/>
          <p:cNvSpPr/>
          <p:nvPr/>
        </p:nvSpPr>
        <p:spPr>
          <a:xfrm>
            <a:off x="8555019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3" name="Shape 31"/>
          <p:cNvSpPr/>
          <p:nvPr/>
        </p:nvSpPr>
        <p:spPr>
          <a:xfrm>
            <a:off x="8864301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4" name="Shape 32"/>
          <p:cNvSpPr/>
          <p:nvPr/>
        </p:nvSpPr>
        <p:spPr>
          <a:xfrm>
            <a:off x="9173584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5" name="Shape 33"/>
          <p:cNvSpPr/>
          <p:nvPr/>
        </p:nvSpPr>
        <p:spPr>
          <a:xfrm>
            <a:off x="9482866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6" name="Shape 34"/>
          <p:cNvSpPr/>
          <p:nvPr/>
        </p:nvSpPr>
        <p:spPr>
          <a:xfrm>
            <a:off x="9792148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01431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10713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9" name="Shape 37"/>
          <p:cNvSpPr/>
          <p:nvPr/>
        </p:nvSpPr>
        <p:spPr>
          <a:xfrm>
            <a:off x="10719995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40" name="Shape 38"/>
          <p:cNvSpPr/>
          <p:nvPr/>
        </p:nvSpPr>
        <p:spPr>
          <a:xfrm>
            <a:off x="11029278" y="470916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2296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9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 by  Simphiwe Khumalo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5349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9C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receipt-style tools: draft emails, summarize meeting notes, and build a day plan — each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9C9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 purpose-built Claude system prompt.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6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Small business owners run the whole back office alone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FAF7EF"/>
          </a:solidFill>
          <a:ln w="15875">
            <a:solidFill>
              <a:srgbClr val="D2C7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4871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FE9DC"/>
          </a:solidFill>
          <a:ln w="22225">
            <a:solidFill>
              <a:srgbClr val="A63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3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154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time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56616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are on the floor serving customers, not drafting supplier emails or writing up meeting notes.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19456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FAF7EF"/>
          </a:solidFill>
          <a:ln w="15875">
            <a:solidFill>
              <a:srgbClr val="D2C7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4871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FE9DC"/>
          </a:solidFill>
          <a:ln w="22225">
            <a:solidFill>
              <a:srgbClr val="A63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3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154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admin staff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56616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 businesses can't justify a dedicated office assistant, so paperwork piles up after hours.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194560"/>
            <a:ext cx="3337560" cy="2651760"/>
          </a:xfrm>
          <a:prstGeom prst="roundRect">
            <a:avLst>
              <a:gd name="adj" fmla="val 2759"/>
            </a:avLst>
          </a:prstGeom>
          <a:solidFill>
            <a:srgbClr val="FAF7EF"/>
          </a:solidFill>
          <a:ln w="15875">
            <a:solidFill>
              <a:srgbClr val="D2C7A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4871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FE9DC"/>
          </a:solidFill>
          <a:ln w="22225">
            <a:solidFill>
              <a:srgbClr val="A63A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3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1546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High stakes, low margin for error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56616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poorly worded email to a client or an invented commitment can cost real money and trust.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166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6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 Office puts three focused AI tools behind one simple desk — no prompt-writing required.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BACK OFFICE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6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desk. Three tabs. One receipt printer.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813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 is a dedicated tool: fill in a short form on the left, and a ready-to-use draft “prints” on the right.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37560" cy="2971800"/>
          </a:xfrm>
          <a:prstGeom prst="roundRect">
            <a:avLst>
              <a:gd name="adj" fmla="val 2462"/>
            </a:avLst>
          </a:prstGeom>
          <a:solidFill>
            <a:srgbClr val="FAF7EF"/>
          </a:solidFill>
          <a:ln w="15875">
            <a:solidFill>
              <a:srgbClr val="D2C7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4884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A63A2E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404872"/>
            <a:ext cx="3337560" cy="246888"/>
          </a:xfrm>
          <a:prstGeom prst="rect">
            <a:avLst/>
          </a:prstGeom>
          <a:solidFill>
            <a:srgbClr val="A63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8992" y="2148840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AF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6207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Email drafts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38328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rough purpose into a ready-to-send email — matched to audience and tone, with a subject line included.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97280" y="4663440"/>
            <a:ext cx="128016" cy="128016"/>
          </a:xfrm>
          <a:prstGeom prst="ellipse">
            <a:avLst/>
          </a:prstGeom>
          <a:solidFill>
            <a:srgbClr val="A63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25880" y="4599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Powered by a dedicated system prompt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0" y="2148840"/>
            <a:ext cx="3337560" cy="2971800"/>
          </a:xfrm>
          <a:prstGeom prst="roundRect">
            <a:avLst>
              <a:gd name="adj" fmla="val 2462"/>
            </a:avLst>
          </a:prstGeom>
          <a:solidFill>
            <a:srgbClr val="FAF7EF"/>
          </a:solidFill>
          <a:ln w="15875">
            <a:solidFill>
              <a:srgbClr val="D2C7A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14884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476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4480560" y="2404872"/>
            <a:ext cx="3337560" cy="246888"/>
          </a:xfrm>
          <a:prstGeom prst="rect">
            <a:avLst/>
          </a:prstGeom>
          <a:solidFill>
            <a:srgbClr val="4761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36592" y="2148840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AF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86207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Meeting notes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38328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messy notes into Key Points, Decisions Made, and Action Items with clear owners and deadlines.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4663440"/>
            <a:ext cx="128016" cy="128016"/>
          </a:xfrm>
          <a:prstGeom prst="ellipse">
            <a:avLst/>
          </a:prstGeom>
          <a:solidFill>
            <a:srgbClr val="4761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83480" y="4599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Powered by a dedicated system prompt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38160" y="2148840"/>
            <a:ext cx="3337560" cy="2971800"/>
          </a:xfrm>
          <a:prstGeom prst="roundRect">
            <a:avLst>
              <a:gd name="adj" fmla="val 2462"/>
            </a:avLst>
          </a:prstGeom>
          <a:solidFill>
            <a:srgbClr val="FAF7EF"/>
          </a:solidFill>
          <a:ln w="15875">
            <a:solidFill>
              <a:srgbClr val="D2C7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214884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8A6015"/>
          </a:solidFill>
          <a:ln/>
        </p:spPr>
      </p:sp>
      <p:sp>
        <p:nvSpPr>
          <p:cNvPr id="23" name="Shape 21"/>
          <p:cNvSpPr/>
          <p:nvPr/>
        </p:nvSpPr>
        <p:spPr>
          <a:xfrm>
            <a:off x="8138160" y="2404872"/>
            <a:ext cx="3337560" cy="246888"/>
          </a:xfrm>
          <a:prstGeom prst="rect">
            <a:avLst/>
          </a:prstGeom>
          <a:solidFill>
            <a:srgbClr val="8A601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94192" y="2148840"/>
            <a:ext cx="2825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AF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286207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Day plan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338328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scattered task list into a realistic, time-blocked plan for the day or the week ahead.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412480" y="4663440"/>
            <a:ext cx="128016" cy="128016"/>
          </a:xfrm>
          <a:prstGeom prst="ellipse">
            <a:avLst/>
          </a:prstGeom>
          <a:solidFill>
            <a:srgbClr val="8A601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41080" y="4599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Powered by a dedicated system prompt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BACK OFFICE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2329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6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EF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Email</a:t>
            </a:r>
            <a:endParaRPr lang="en-US" sz="2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EF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drafts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502920" cy="502920"/>
          </a:xfrm>
          <a:prstGeom prst="ellipse">
            <a:avLst/>
          </a:prstGeom>
          <a:solidFill>
            <a:srgbClr val="2E362A"/>
          </a:solidFill>
          <a:ln w="25400">
            <a:solidFill>
              <a:srgbClr val="A63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3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correspondence assistant for a business owner who is short on time. Turns a rough purpose into a ready-to-send email.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A6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PROVIDES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720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(client / manager or supplier / team)</a:t>
            </a:r>
            <a:endParaRPr lang="en-US" sz="115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(formal / informal / persuasive)</a:t>
            </a:r>
            <a:endParaRPr lang="en-US" sz="115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as (optional)</a:t>
            </a:r>
            <a:endParaRPr lang="en-US" sz="115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email needs to say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594360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6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PROMPT RULES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9144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keeps this tool honest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977640" y="1554480"/>
            <a:ext cx="7726680" cy="5074920"/>
          </a:xfrm>
          <a:prstGeom prst="roundRect">
            <a:avLst>
              <a:gd name="adj" fmla="val 1081"/>
            </a:avLst>
          </a:prstGeom>
          <a:solidFill>
            <a:srgbClr val="FAF7EF"/>
          </a:solidFill>
          <a:ln w="15875">
            <a:solidFill>
              <a:srgbClr val="D2C7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33987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53174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6" name="Shape 14"/>
          <p:cNvSpPr/>
          <p:nvPr/>
        </p:nvSpPr>
        <p:spPr>
          <a:xfrm>
            <a:off x="4772361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7" name="Shape 15"/>
          <p:cNvSpPr/>
          <p:nvPr/>
        </p:nvSpPr>
        <p:spPr>
          <a:xfrm>
            <a:off x="4991548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0735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9" name="Shape 17"/>
          <p:cNvSpPr/>
          <p:nvPr/>
        </p:nvSpPr>
        <p:spPr>
          <a:xfrm>
            <a:off x="5429922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49109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1" name="Shape 19"/>
          <p:cNvSpPr/>
          <p:nvPr/>
        </p:nvSpPr>
        <p:spPr>
          <a:xfrm>
            <a:off x="5868296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7484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6671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4" name="Shape 22"/>
          <p:cNvSpPr/>
          <p:nvPr/>
        </p:nvSpPr>
        <p:spPr>
          <a:xfrm>
            <a:off x="6525858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5" name="Shape 23"/>
          <p:cNvSpPr/>
          <p:nvPr/>
        </p:nvSpPr>
        <p:spPr>
          <a:xfrm>
            <a:off x="6745045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6" name="Shape 24"/>
          <p:cNvSpPr/>
          <p:nvPr/>
        </p:nvSpPr>
        <p:spPr>
          <a:xfrm>
            <a:off x="6964232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7" name="Shape 25"/>
          <p:cNvSpPr/>
          <p:nvPr/>
        </p:nvSpPr>
        <p:spPr>
          <a:xfrm>
            <a:off x="7183419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8" name="Shape 26"/>
          <p:cNvSpPr/>
          <p:nvPr/>
        </p:nvSpPr>
        <p:spPr>
          <a:xfrm>
            <a:off x="7402606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9" name="Shape 27"/>
          <p:cNvSpPr/>
          <p:nvPr/>
        </p:nvSpPr>
        <p:spPr>
          <a:xfrm>
            <a:off x="7621793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0" name="Shape 28"/>
          <p:cNvSpPr/>
          <p:nvPr/>
        </p:nvSpPr>
        <p:spPr>
          <a:xfrm>
            <a:off x="7840980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1" name="Shape 29"/>
          <p:cNvSpPr/>
          <p:nvPr/>
        </p:nvSpPr>
        <p:spPr>
          <a:xfrm>
            <a:off x="8060167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2" name="Shape 30"/>
          <p:cNvSpPr/>
          <p:nvPr/>
        </p:nvSpPr>
        <p:spPr>
          <a:xfrm>
            <a:off x="8279354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3" name="Shape 31"/>
          <p:cNvSpPr/>
          <p:nvPr/>
        </p:nvSpPr>
        <p:spPr>
          <a:xfrm>
            <a:off x="8498541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4" name="Shape 32"/>
          <p:cNvSpPr/>
          <p:nvPr/>
        </p:nvSpPr>
        <p:spPr>
          <a:xfrm>
            <a:off x="8717728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5" name="Shape 33"/>
          <p:cNvSpPr/>
          <p:nvPr/>
        </p:nvSpPr>
        <p:spPr>
          <a:xfrm>
            <a:off x="8936915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6" name="Shape 34"/>
          <p:cNvSpPr/>
          <p:nvPr/>
        </p:nvSpPr>
        <p:spPr>
          <a:xfrm>
            <a:off x="9156102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7" name="Shape 35"/>
          <p:cNvSpPr/>
          <p:nvPr/>
        </p:nvSpPr>
        <p:spPr>
          <a:xfrm>
            <a:off x="9375289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8" name="Shape 36"/>
          <p:cNvSpPr/>
          <p:nvPr/>
        </p:nvSpPr>
        <p:spPr>
          <a:xfrm>
            <a:off x="9594476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9" name="Shape 37"/>
          <p:cNvSpPr/>
          <p:nvPr/>
        </p:nvSpPr>
        <p:spPr>
          <a:xfrm>
            <a:off x="9813664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0" name="Shape 38"/>
          <p:cNvSpPr/>
          <p:nvPr/>
        </p:nvSpPr>
        <p:spPr>
          <a:xfrm>
            <a:off x="10032851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52038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71225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90412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4" name="Shape 42"/>
          <p:cNvSpPr/>
          <p:nvPr/>
        </p:nvSpPr>
        <p:spPr>
          <a:xfrm>
            <a:off x="10909599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5" name="Shape 43"/>
          <p:cNvSpPr/>
          <p:nvPr/>
        </p:nvSpPr>
        <p:spPr>
          <a:xfrm>
            <a:off x="11128786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6" name="Shape 44"/>
          <p:cNvSpPr/>
          <p:nvPr/>
        </p:nvSpPr>
        <p:spPr>
          <a:xfrm>
            <a:off x="11347973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7" name="Shape 45"/>
          <p:cNvSpPr/>
          <p:nvPr/>
        </p:nvSpPr>
        <p:spPr>
          <a:xfrm>
            <a:off x="4297680" y="19202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A63A2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2976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4754880" y="18470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requested tone exactly, and adapt vocabulary to the stated audience.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297680" y="26441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A63A2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297680" y="2644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754880" y="25709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as short as the purpose allows — busy recipients skim.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4297680" y="33680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A63A2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297680" y="3368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4754880" y="32948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 a clear subject line as the first line.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4297680" y="40919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A63A2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297680" y="4091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754880" y="40187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 facts, prices, dates, or commitments the owner didn't mention.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4297680" y="48158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A63A2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297680" y="4815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4754880" y="47426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details become a bracketed placeholder — e.g. [confirm date] — instead of a guess.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4297680" y="55397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A63A2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297680" y="55397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754880" y="54665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only the subject line and email body. No commentary, no markdown.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4114800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6" name="Shape 64"/>
          <p:cNvSpPr/>
          <p:nvPr/>
        </p:nvSpPr>
        <p:spPr>
          <a:xfrm>
            <a:off x="4333987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7" name="Shape 65"/>
          <p:cNvSpPr/>
          <p:nvPr/>
        </p:nvSpPr>
        <p:spPr>
          <a:xfrm>
            <a:off x="4553174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8" name="Shape 66"/>
          <p:cNvSpPr/>
          <p:nvPr/>
        </p:nvSpPr>
        <p:spPr>
          <a:xfrm>
            <a:off x="4772361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9" name="Shape 67"/>
          <p:cNvSpPr/>
          <p:nvPr/>
        </p:nvSpPr>
        <p:spPr>
          <a:xfrm>
            <a:off x="4991548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0" name="Shape 68"/>
          <p:cNvSpPr/>
          <p:nvPr/>
        </p:nvSpPr>
        <p:spPr>
          <a:xfrm>
            <a:off x="5210735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1" name="Shape 69"/>
          <p:cNvSpPr/>
          <p:nvPr/>
        </p:nvSpPr>
        <p:spPr>
          <a:xfrm>
            <a:off x="5429922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2" name="Shape 70"/>
          <p:cNvSpPr/>
          <p:nvPr/>
        </p:nvSpPr>
        <p:spPr>
          <a:xfrm>
            <a:off x="5649109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3" name="Shape 71"/>
          <p:cNvSpPr/>
          <p:nvPr/>
        </p:nvSpPr>
        <p:spPr>
          <a:xfrm>
            <a:off x="5868296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4" name="Shape 72"/>
          <p:cNvSpPr/>
          <p:nvPr/>
        </p:nvSpPr>
        <p:spPr>
          <a:xfrm>
            <a:off x="6087484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5" name="Shape 73"/>
          <p:cNvSpPr/>
          <p:nvPr/>
        </p:nvSpPr>
        <p:spPr>
          <a:xfrm>
            <a:off x="6306671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6" name="Shape 74"/>
          <p:cNvSpPr/>
          <p:nvPr/>
        </p:nvSpPr>
        <p:spPr>
          <a:xfrm>
            <a:off x="6525858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7" name="Shape 75"/>
          <p:cNvSpPr/>
          <p:nvPr/>
        </p:nvSpPr>
        <p:spPr>
          <a:xfrm>
            <a:off x="6745045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8" name="Shape 76"/>
          <p:cNvSpPr/>
          <p:nvPr/>
        </p:nvSpPr>
        <p:spPr>
          <a:xfrm>
            <a:off x="6964232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9" name="Shape 77"/>
          <p:cNvSpPr/>
          <p:nvPr/>
        </p:nvSpPr>
        <p:spPr>
          <a:xfrm>
            <a:off x="7183419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0" name="Shape 78"/>
          <p:cNvSpPr/>
          <p:nvPr/>
        </p:nvSpPr>
        <p:spPr>
          <a:xfrm>
            <a:off x="7402606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1" name="Shape 79"/>
          <p:cNvSpPr/>
          <p:nvPr/>
        </p:nvSpPr>
        <p:spPr>
          <a:xfrm>
            <a:off x="7621793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2" name="Shape 80"/>
          <p:cNvSpPr/>
          <p:nvPr/>
        </p:nvSpPr>
        <p:spPr>
          <a:xfrm>
            <a:off x="7840980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3" name="Shape 81"/>
          <p:cNvSpPr/>
          <p:nvPr/>
        </p:nvSpPr>
        <p:spPr>
          <a:xfrm>
            <a:off x="8060167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4" name="Shape 82"/>
          <p:cNvSpPr/>
          <p:nvPr/>
        </p:nvSpPr>
        <p:spPr>
          <a:xfrm>
            <a:off x="8279354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5" name="Shape 83"/>
          <p:cNvSpPr/>
          <p:nvPr/>
        </p:nvSpPr>
        <p:spPr>
          <a:xfrm>
            <a:off x="8498541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6" name="Shape 84"/>
          <p:cNvSpPr/>
          <p:nvPr/>
        </p:nvSpPr>
        <p:spPr>
          <a:xfrm>
            <a:off x="8717728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7" name="Shape 85"/>
          <p:cNvSpPr/>
          <p:nvPr/>
        </p:nvSpPr>
        <p:spPr>
          <a:xfrm>
            <a:off x="8936915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8" name="Shape 86"/>
          <p:cNvSpPr/>
          <p:nvPr/>
        </p:nvSpPr>
        <p:spPr>
          <a:xfrm>
            <a:off x="9156102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9" name="Shape 87"/>
          <p:cNvSpPr/>
          <p:nvPr/>
        </p:nvSpPr>
        <p:spPr>
          <a:xfrm>
            <a:off x="9375289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0" name="Shape 88"/>
          <p:cNvSpPr/>
          <p:nvPr/>
        </p:nvSpPr>
        <p:spPr>
          <a:xfrm>
            <a:off x="9594476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1" name="Shape 89"/>
          <p:cNvSpPr/>
          <p:nvPr/>
        </p:nvSpPr>
        <p:spPr>
          <a:xfrm>
            <a:off x="9813664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2" name="Shape 90"/>
          <p:cNvSpPr/>
          <p:nvPr/>
        </p:nvSpPr>
        <p:spPr>
          <a:xfrm>
            <a:off x="10032851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3" name="Shape 91"/>
          <p:cNvSpPr/>
          <p:nvPr/>
        </p:nvSpPr>
        <p:spPr>
          <a:xfrm>
            <a:off x="10252038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4" name="Shape 92"/>
          <p:cNvSpPr/>
          <p:nvPr/>
        </p:nvSpPr>
        <p:spPr>
          <a:xfrm>
            <a:off x="10471225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5" name="Shape 93"/>
          <p:cNvSpPr/>
          <p:nvPr/>
        </p:nvSpPr>
        <p:spPr>
          <a:xfrm>
            <a:off x="10690412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6" name="Shape 94"/>
          <p:cNvSpPr/>
          <p:nvPr/>
        </p:nvSpPr>
        <p:spPr>
          <a:xfrm>
            <a:off x="10909599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7" name="Shape 95"/>
          <p:cNvSpPr/>
          <p:nvPr/>
        </p:nvSpPr>
        <p:spPr>
          <a:xfrm>
            <a:off x="11128786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8" name="Shape 96"/>
          <p:cNvSpPr/>
          <p:nvPr/>
        </p:nvSpPr>
        <p:spPr>
          <a:xfrm>
            <a:off x="11347973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BACK OFFICE</a:t>
            </a:r>
            <a:endParaRPr lang="en-US" sz="900" dirty="0"/>
          </a:p>
        </p:txBody>
      </p:sp>
      <p:sp>
        <p:nvSpPr>
          <p:cNvPr id="100" name="Text 9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2329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76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EF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Meeting</a:t>
            </a:r>
            <a:endParaRPr lang="en-US" sz="2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EF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502920" cy="502920"/>
          </a:xfrm>
          <a:prstGeom prst="ellipse">
            <a:avLst/>
          </a:prstGeom>
          <a:solidFill>
            <a:srgbClr val="2E362A"/>
          </a:solidFill>
          <a:ln w="25400">
            <a:solidFill>
              <a:srgbClr val="4761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61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raw, messy meeting notes for an owner who can't attend every meeting personally.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476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PROVIDES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720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raw meeting notes (any format, any messiness)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594360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6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PROMPT RULES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9144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keeps this tool honest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977640" y="1554480"/>
            <a:ext cx="7726680" cy="5074920"/>
          </a:xfrm>
          <a:prstGeom prst="roundRect">
            <a:avLst>
              <a:gd name="adj" fmla="val 1081"/>
            </a:avLst>
          </a:prstGeom>
          <a:solidFill>
            <a:srgbClr val="FAF7EF"/>
          </a:solidFill>
          <a:ln w="15875">
            <a:solidFill>
              <a:srgbClr val="D2C7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33987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53174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6" name="Shape 14"/>
          <p:cNvSpPr/>
          <p:nvPr/>
        </p:nvSpPr>
        <p:spPr>
          <a:xfrm>
            <a:off x="4772361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7" name="Shape 15"/>
          <p:cNvSpPr/>
          <p:nvPr/>
        </p:nvSpPr>
        <p:spPr>
          <a:xfrm>
            <a:off x="4991548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0735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9" name="Shape 17"/>
          <p:cNvSpPr/>
          <p:nvPr/>
        </p:nvSpPr>
        <p:spPr>
          <a:xfrm>
            <a:off x="5429922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49109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1" name="Shape 19"/>
          <p:cNvSpPr/>
          <p:nvPr/>
        </p:nvSpPr>
        <p:spPr>
          <a:xfrm>
            <a:off x="5868296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7484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6671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4" name="Shape 22"/>
          <p:cNvSpPr/>
          <p:nvPr/>
        </p:nvSpPr>
        <p:spPr>
          <a:xfrm>
            <a:off x="6525858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5" name="Shape 23"/>
          <p:cNvSpPr/>
          <p:nvPr/>
        </p:nvSpPr>
        <p:spPr>
          <a:xfrm>
            <a:off x="6745045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6" name="Shape 24"/>
          <p:cNvSpPr/>
          <p:nvPr/>
        </p:nvSpPr>
        <p:spPr>
          <a:xfrm>
            <a:off x="6964232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7" name="Shape 25"/>
          <p:cNvSpPr/>
          <p:nvPr/>
        </p:nvSpPr>
        <p:spPr>
          <a:xfrm>
            <a:off x="7183419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8" name="Shape 26"/>
          <p:cNvSpPr/>
          <p:nvPr/>
        </p:nvSpPr>
        <p:spPr>
          <a:xfrm>
            <a:off x="7402606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9" name="Shape 27"/>
          <p:cNvSpPr/>
          <p:nvPr/>
        </p:nvSpPr>
        <p:spPr>
          <a:xfrm>
            <a:off x="7621793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0" name="Shape 28"/>
          <p:cNvSpPr/>
          <p:nvPr/>
        </p:nvSpPr>
        <p:spPr>
          <a:xfrm>
            <a:off x="7840980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1" name="Shape 29"/>
          <p:cNvSpPr/>
          <p:nvPr/>
        </p:nvSpPr>
        <p:spPr>
          <a:xfrm>
            <a:off x="8060167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2" name="Shape 30"/>
          <p:cNvSpPr/>
          <p:nvPr/>
        </p:nvSpPr>
        <p:spPr>
          <a:xfrm>
            <a:off x="8279354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3" name="Shape 31"/>
          <p:cNvSpPr/>
          <p:nvPr/>
        </p:nvSpPr>
        <p:spPr>
          <a:xfrm>
            <a:off x="8498541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4" name="Shape 32"/>
          <p:cNvSpPr/>
          <p:nvPr/>
        </p:nvSpPr>
        <p:spPr>
          <a:xfrm>
            <a:off x="8717728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5" name="Shape 33"/>
          <p:cNvSpPr/>
          <p:nvPr/>
        </p:nvSpPr>
        <p:spPr>
          <a:xfrm>
            <a:off x="8936915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6" name="Shape 34"/>
          <p:cNvSpPr/>
          <p:nvPr/>
        </p:nvSpPr>
        <p:spPr>
          <a:xfrm>
            <a:off x="9156102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7" name="Shape 35"/>
          <p:cNvSpPr/>
          <p:nvPr/>
        </p:nvSpPr>
        <p:spPr>
          <a:xfrm>
            <a:off x="9375289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8" name="Shape 36"/>
          <p:cNvSpPr/>
          <p:nvPr/>
        </p:nvSpPr>
        <p:spPr>
          <a:xfrm>
            <a:off x="9594476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9" name="Shape 37"/>
          <p:cNvSpPr/>
          <p:nvPr/>
        </p:nvSpPr>
        <p:spPr>
          <a:xfrm>
            <a:off x="9813664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0" name="Shape 38"/>
          <p:cNvSpPr/>
          <p:nvPr/>
        </p:nvSpPr>
        <p:spPr>
          <a:xfrm>
            <a:off x="10032851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52038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71225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90412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4" name="Shape 42"/>
          <p:cNvSpPr/>
          <p:nvPr/>
        </p:nvSpPr>
        <p:spPr>
          <a:xfrm>
            <a:off x="10909599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5" name="Shape 43"/>
          <p:cNvSpPr/>
          <p:nvPr/>
        </p:nvSpPr>
        <p:spPr>
          <a:xfrm>
            <a:off x="11128786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6" name="Shape 44"/>
          <p:cNvSpPr/>
          <p:nvPr/>
        </p:nvSpPr>
        <p:spPr>
          <a:xfrm>
            <a:off x="11347973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7" name="Shape 45"/>
          <p:cNvSpPr/>
          <p:nvPr/>
        </p:nvSpPr>
        <p:spPr>
          <a:xfrm>
            <a:off x="4297680" y="19202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47614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2976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6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4754880" y="18470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from what's in the notes — never invents attendees, numbers, or commitments.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297680" y="26441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47614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297680" y="2644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6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754880" y="25709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outputs three sections in order: Key Points, Decisions Made, Action Items.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4297680" y="33680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47614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297680" y="3368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6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4754880" y="32948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Points: up to 5 short bullets on what was actually discussed.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4297680" y="40919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47614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297680" y="4091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6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754880" y="40187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Made: only firm decisions, or “No firm decisions recorded.”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4297680" y="48158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47614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297680" y="4815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6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4754880" y="47426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formatted as — [owner] — [task] — due: [deadline or 'not specified'].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4297680" y="55397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47614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297680" y="55397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6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754880" y="54665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notes are too thin to summarize responsibly, it says so instead of filling gaps.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4114800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6" name="Shape 64"/>
          <p:cNvSpPr/>
          <p:nvPr/>
        </p:nvSpPr>
        <p:spPr>
          <a:xfrm>
            <a:off x="4333987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7" name="Shape 65"/>
          <p:cNvSpPr/>
          <p:nvPr/>
        </p:nvSpPr>
        <p:spPr>
          <a:xfrm>
            <a:off x="4553174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8" name="Shape 66"/>
          <p:cNvSpPr/>
          <p:nvPr/>
        </p:nvSpPr>
        <p:spPr>
          <a:xfrm>
            <a:off x="4772361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9" name="Shape 67"/>
          <p:cNvSpPr/>
          <p:nvPr/>
        </p:nvSpPr>
        <p:spPr>
          <a:xfrm>
            <a:off x="4991548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0" name="Shape 68"/>
          <p:cNvSpPr/>
          <p:nvPr/>
        </p:nvSpPr>
        <p:spPr>
          <a:xfrm>
            <a:off x="5210735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1" name="Shape 69"/>
          <p:cNvSpPr/>
          <p:nvPr/>
        </p:nvSpPr>
        <p:spPr>
          <a:xfrm>
            <a:off x="5429922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2" name="Shape 70"/>
          <p:cNvSpPr/>
          <p:nvPr/>
        </p:nvSpPr>
        <p:spPr>
          <a:xfrm>
            <a:off x="5649109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3" name="Shape 71"/>
          <p:cNvSpPr/>
          <p:nvPr/>
        </p:nvSpPr>
        <p:spPr>
          <a:xfrm>
            <a:off x="5868296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4" name="Shape 72"/>
          <p:cNvSpPr/>
          <p:nvPr/>
        </p:nvSpPr>
        <p:spPr>
          <a:xfrm>
            <a:off x="6087484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5" name="Shape 73"/>
          <p:cNvSpPr/>
          <p:nvPr/>
        </p:nvSpPr>
        <p:spPr>
          <a:xfrm>
            <a:off x="6306671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6" name="Shape 74"/>
          <p:cNvSpPr/>
          <p:nvPr/>
        </p:nvSpPr>
        <p:spPr>
          <a:xfrm>
            <a:off x="6525858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7" name="Shape 75"/>
          <p:cNvSpPr/>
          <p:nvPr/>
        </p:nvSpPr>
        <p:spPr>
          <a:xfrm>
            <a:off x="6745045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8" name="Shape 76"/>
          <p:cNvSpPr/>
          <p:nvPr/>
        </p:nvSpPr>
        <p:spPr>
          <a:xfrm>
            <a:off x="6964232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9" name="Shape 77"/>
          <p:cNvSpPr/>
          <p:nvPr/>
        </p:nvSpPr>
        <p:spPr>
          <a:xfrm>
            <a:off x="7183419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0" name="Shape 78"/>
          <p:cNvSpPr/>
          <p:nvPr/>
        </p:nvSpPr>
        <p:spPr>
          <a:xfrm>
            <a:off x="7402606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1" name="Shape 79"/>
          <p:cNvSpPr/>
          <p:nvPr/>
        </p:nvSpPr>
        <p:spPr>
          <a:xfrm>
            <a:off x="7621793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2" name="Shape 80"/>
          <p:cNvSpPr/>
          <p:nvPr/>
        </p:nvSpPr>
        <p:spPr>
          <a:xfrm>
            <a:off x="7840980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3" name="Shape 81"/>
          <p:cNvSpPr/>
          <p:nvPr/>
        </p:nvSpPr>
        <p:spPr>
          <a:xfrm>
            <a:off x="8060167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4" name="Shape 82"/>
          <p:cNvSpPr/>
          <p:nvPr/>
        </p:nvSpPr>
        <p:spPr>
          <a:xfrm>
            <a:off x="8279354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5" name="Shape 83"/>
          <p:cNvSpPr/>
          <p:nvPr/>
        </p:nvSpPr>
        <p:spPr>
          <a:xfrm>
            <a:off x="8498541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6" name="Shape 84"/>
          <p:cNvSpPr/>
          <p:nvPr/>
        </p:nvSpPr>
        <p:spPr>
          <a:xfrm>
            <a:off x="8717728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7" name="Shape 85"/>
          <p:cNvSpPr/>
          <p:nvPr/>
        </p:nvSpPr>
        <p:spPr>
          <a:xfrm>
            <a:off x="8936915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8" name="Shape 86"/>
          <p:cNvSpPr/>
          <p:nvPr/>
        </p:nvSpPr>
        <p:spPr>
          <a:xfrm>
            <a:off x="9156102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9" name="Shape 87"/>
          <p:cNvSpPr/>
          <p:nvPr/>
        </p:nvSpPr>
        <p:spPr>
          <a:xfrm>
            <a:off x="9375289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0" name="Shape 88"/>
          <p:cNvSpPr/>
          <p:nvPr/>
        </p:nvSpPr>
        <p:spPr>
          <a:xfrm>
            <a:off x="9594476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1" name="Shape 89"/>
          <p:cNvSpPr/>
          <p:nvPr/>
        </p:nvSpPr>
        <p:spPr>
          <a:xfrm>
            <a:off x="9813664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2" name="Shape 90"/>
          <p:cNvSpPr/>
          <p:nvPr/>
        </p:nvSpPr>
        <p:spPr>
          <a:xfrm>
            <a:off x="10032851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3" name="Shape 91"/>
          <p:cNvSpPr/>
          <p:nvPr/>
        </p:nvSpPr>
        <p:spPr>
          <a:xfrm>
            <a:off x="10252038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4" name="Shape 92"/>
          <p:cNvSpPr/>
          <p:nvPr/>
        </p:nvSpPr>
        <p:spPr>
          <a:xfrm>
            <a:off x="10471225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5" name="Shape 93"/>
          <p:cNvSpPr/>
          <p:nvPr/>
        </p:nvSpPr>
        <p:spPr>
          <a:xfrm>
            <a:off x="10690412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6" name="Shape 94"/>
          <p:cNvSpPr/>
          <p:nvPr/>
        </p:nvSpPr>
        <p:spPr>
          <a:xfrm>
            <a:off x="10909599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7" name="Shape 95"/>
          <p:cNvSpPr/>
          <p:nvPr/>
        </p:nvSpPr>
        <p:spPr>
          <a:xfrm>
            <a:off x="11128786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8" name="Shape 96"/>
          <p:cNvSpPr/>
          <p:nvPr/>
        </p:nvSpPr>
        <p:spPr>
          <a:xfrm>
            <a:off x="11347973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BACK OFFICE</a:t>
            </a:r>
            <a:endParaRPr lang="en-US" sz="900" dirty="0"/>
          </a:p>
        </p:txBody>
      </p:sp>
      <p:sp>
        <p:nvSpPr>
          <p:cNvPr id="100" name="Text 9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2329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60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EF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Day</a:t>
            </a:r>
            <a:endParaRPr lang="en-US" sz="2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800" b="1" dirty="0">
                <a:solidFill>
                  <a:srgbClr val="EF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993392"/>
            <a:ext cx="502920" cy="502920"/>
          </a:xfrm>
          <a:prstGeom prst="ellipse">
            <a:avLst/>
          </a:prstGeom>
          <a:solidFill>
            <a:srgbClr val="2E362A"/>
          </a:solidFill>
          <a:ln w="25400">
            <a:solidFill>
              <a:srgbClr val="8A60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01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scheduling assistant for an owner juggling many small tasks across a day or a full week.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A60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PROVIDES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720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for: Today or This week</a:t>
            </a:r>
            <a:endParaRPr lang="en-US" sz="115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E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and errands (in any order)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594360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6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PROMPT RULES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91440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keeps this tool honest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977640" y="1554480"/>
            <a:ext cx="7726680" cy="5074920"/>
          </a:xfrm>
          <a:prstGeom prst="roundRect">
            <a:avLst>
              <a:gd name="adj" fmla="val 1081"/>
            </a:avLst>
          </a:prstGeom>
          <a:solidFill>
            <a:srgbClr val="FAF7EF"/>
          </a:solidFill>
          <a:ln w="15875">
            <a:solidFill>
              <a:srgbClr val="D2C7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4" name="Shape 12"/>
          <p:cNvSpPr/>
          <p:nvPr/>
        </p:nvSpPr>
        <p:spPr>
          <a:xfrm>
            <a:off x="4333987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53174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6" name="Shape 14"/>
          <p:cNvSpPr/>
          <p:nvPr/>
        </p:nvSpPr>
        <p:spPr>
          <a:xfrm>
            <a:off x="4772361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7" name="Shape 15"/>
          <p:cNvSpPr/>
          <p:nvPr/>
        </p:nvSpPr>
        <p:spPr>
          <a:xfrm>
            <a:off x="4991548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0735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9" name="Shape 17"/>
          <p:cNvSpPr/>
          <p:nvPr/>
        </p:nvSpPr>
        <p:spPr>
          <a:xfrm>
            <a:off x="5429922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0" name="Shape 18"/>
          <p:cNvSpPr/>
          <p:nvPr/>
        </p:nvSpPr>
        <p:spPr>
          <a:xfrm>
            <a:off x="5649109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1" name="Shape 19"/>
          <p:cNvSpPr/>
          <p:nvPr/>
        </p:nvSpPr>
        <p:spPr>
          <a:xfrm>
            <a:off x="5868296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7484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6671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4" name="Shape 22"/>
          <p:cNvSpPr/>
          <p:nvPr/>
        </p:nvSpPr>
        <p:spPr>
          <a:xfrm>
            <a:off x="6525858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5" name="Shape 23"/>
          <p:cNvSpPr/>
          <p:nvPr/>
        </p:nvSpPr>
        <p:spPr>
          <a:xfrm>
            <a:off x="6745045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6" name="Shape 24"/>
          <p:cNvSpPr/>
          <p:nvPr/>
        </p:nvSpPr>
        <p:spPr>
          <a:xfrm>
            <a:off x="6964232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7" name="Shape 25"/>
          <p:cNvSpPr/>
          <p:nvPr/>
        </p:nvSpPr>
        <p:spPr>
          <a:xfrm>
            <a:off x="7183419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8" name="Shape 26"/>
          <p:cNvSpPr/>
          <p:nvPr/>
        </p:nvSpPr>
        <p:spPr>
          <a:xfrm>
            <a:off x="7402606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9" name="Shape 27"/>
          <p:cNvSpPr/>
          <p:nvPr/>
        </p:nvSpPr>
        <p:spPr>
          <a:xfrm>
            <a:off x="7621793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0" name="Shape 28"/>
          <p:cNvSpPr/>
          <p:nvPr/>
        </p:nvSpPr>
        <p:spPr>
          <a:xfrm>
            <a:off x="7840980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1" name="Shape 29"/>
          <p:cNvSpPr/>
          <p:nvPr/>
        </p:nvSpPr>
        <p:spPr>
          <a:xfrm>
            <a:off x="8060167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2" name="Shape 30"/>
          <p:cNvSpPr/>
          <p:nvPr/>
        </p:nvSpPr>
        <p:spPr>
          <a:xfrm>
            <a:off x="8279354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3" name="Shape 31"/>
          <p:cNvSpPr/>
          <p:nvPr/>
        </p:nvSpPr>
        <p:spPr>
          <a:xfrm>
            <a:off x="8498541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4" name="Shape 32"/>
          <p:cNvSpPr/>
          <p:nvPr/>
        </p:nvSpPr>
        <p:spPr>
          <a:xfrm>
            <a:off x="8717728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5" name="Shape 33"/>
          <p:cNvSpPr/>
          <p:nvPr/>
        </p:nvSpPr>
        <p:spPr>
          <a:xfrm>
            <a:off x="8936915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6" name="Shape 34"/>
          <p:cNvSpPr/>
          <p:nvPr/>
        </p:nvSpPr>
        <p:spPr>
          <a:xfrm>
            <a:off x="9156102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7" name="Shape 35"/>
          <p:cNvSpPr/>
          <p:nvPr/>
        </p:nvSpPr>
        <p:spPr>
          <a:xfrm>
            <a:off x="9375289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8" name="Shape 36"/>
          <p:cNvSpPr/>
          <p:nvPr/>
        </p:nvSpPr>
        <p:spPr>
          <a:xfrm>
            <a:off x="9594476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9" name="Shape 37"/>
          <p:cNvSpPr/>
          <p:nvPr/>
        </p:nvSpPr>
        <p:spPr>
          <a:xfrm>
            <a:off x="9813664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0" name="Shape 38"/>
          <p:cNvSpPr/>
          <p:nvPr/>
        </p:nvSpPr>
        <p:spPr>
          <a:xfrm>
            <a:off x="10032851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52038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71225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90412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4" name="Shape 42"/>
          <p:cNvSpPr/>
          <p:nvPr/>
        </p:nvSpPr>
        <p:spPr>
          <a:xfrm>
            <a:off x="10909599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5" name="Shape 43"/>
          <p:cNvSpPr/>
          <p:nvPr/>
        </p:nvSpPr>
        <p:spPr>
          <a:xfrm>
            <a:off x="11128786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6" name="Shape 44"/>
          <p:cNvSpPr/>
          <p:nvPr/>
        </p:nvSpPr>
        <p:spPr>
          <a:xfrm>
            <a:off x="11347973" y="1627632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7" name="Shape 45"/>
          <p:cNvSpPr/>
          <p:nvPr/>
        </p:nvSpPr>
        <p:spPr>
          <a:xfrm>
            <a:off x="4297680" y="19202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8A601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2976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4754880" y="18470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realistic, time-blocked plan for the stated horizon.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4297680" y="26441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8A601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297680" y="26441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754880" y="25709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by urgency and importance, not by the order tasks were listed.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4297680" y="33680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8A601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297680" y="3368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4754880" y="32948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similar or nearby tasks together to cut down on context-switching.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4297680" y="40919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8A601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297680" y="4091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754880" y="40187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each task a rough time estimate and a suggested slot.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4297680" y="48158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8A601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297680" y="4815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4754880" y="47426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list is too much for the horizon, says so and suggests what to defer.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4297680" y="553974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FE9DC"/>
          </a:solidFill>
          <a:ln w="19050">
            <a:solidFill>
              <a:srgbClr val="8A601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297680" y="55397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0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754880" y="5466588"/>
            <a:ext cx="653796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plain structured plan — day headers for a week, time blocks for a day.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4114800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6" name="Shape 64"/>
          <p:cNvSpPr/>
          <p:nvPr/>
        </p:nvSpPr>
        <p:spPr>
          <a:xfrm>
            <a:off x="4333987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7" name="Shape 65"/>
          <p:cNvSpPr/>
          <p:nvPr/>
        </p:nvSpPr>
        <p:spPr>
          <a:xfrm>
            <a:off x="4553174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8" name="Shape 66"/>
          <p:cNvSpPr/>
          <p:nvPr/>
        </p:nvSpPr>
        <p:spPr>
          <a:xfrm>
            <a:off x="4772361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9" name="Shape 67"/>
          <p:cNvSpPr/>
          <p:nvPr/>
        </p:nvSpPr>
        <p:spPr>
          <a:xfrm>
            <a:off x="4991548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0" name="Shape 68"/>
          <p:cNvSpPr/>
          <p:nvPr/>
        </p:nvSpPr>
        <p:spPr>
          <a:xfrm>
            <a:off x="5210735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1" name="Shape 69"/>
          <p:cNvSpPr/>
          <p:nvPr/>
        </p:nvSpPr>
        <p:spPr>
          <a:xfrm>
            <a:off x="5429922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2" name="Shape 70"/>
          <p:cNvSpPr/>
          <p:nvPr/>
        </p:nvSpPr>
        <p:spPr>
          <a:xfrm>
            <a:off x="5649109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3" name="Shape 71"/>
          <p:cNvSpPr/>
          <p:nvPr/>
        </p:nvSpPr>
        <p:spPr>
          <a:xfrm>
            <a:off x="5868296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4" name="Shape 72"/>
          <p:cNvSpPr/>
          <p:nvPr/>
        </p:nvSpPr>
        <p:spPr>
          <a:xfrm>
            <a:off x="6087484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5" name="Shape 73"/>
          <p:cNvSpPr/>
          <p:nvPr/>
        </p:nvSpPr>
        <p:spPr>
          <a:xfrm>
            <a:off x="6306671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6" name="Shape 74"/>
          <p:cNvSpPr/>
          <p:nvPr/>
        </p:nvSpPr>
        <p:spPr>
          <a:xfrm>
            <a:off x="6525858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7" name="Shape 75"/>
          <p:cNvSpPr/>
          <p:nvPr/>
        </p:nvSpPr>
        <p:spPr>
          <a:xfrm>
            <a:off x="6745045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8" name="Shape 76"/>
          <p:cNvSpPr/>
          <p:nvPr/>
        </p:nvSpPr>
        <p:spPr>
          <a:xfrm>
            <a:off x="6964232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9" name="Shape 77"/>
          <p:cNvSpPr/>
          <p:nvPr/>
        </p:nvSpPr>
        <p:spPr>
          <a:xfrm>
            <a:off x="7183419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0" name="Shape 78"/>
          <p:cNvSpPr/>
          <p:nvPr/>
        </p:nvSpPr>
        <p:spPr>
          <a:xfrm>
            <a:off x="7402606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1" name="Shape 79"/>
          <p:cNvSpPr/>
          <p:nvPr/>
        </p:nvSpPr>
        <p:spPr>
          <a:xfrm>
            <a:off x="7621793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2" name="Shape 80"/>
          <p:cNvSpPr/>
          <p:nvPr/>
        </p:nvSpPr>
        <p:spPr>
          <a:xfrm>
            <a:off x="7840980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3" name="Shape 81"/>
          <p:cNvSpPr/>
          <p:nvPr/>
        </p:nvSpPr>
        <p:spPr>
          <a:xfrm>
            <a:off x="8060167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4" name="Shape 82"/>
          <p:cNvSpPr/>
          <p:nvPr/>
        </p:nvSpPr>
        <p:spPr>
          <a:xfrm>
            <a:off x="8279354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5" name="Shape 83"/>
          <p:cNvSpPr/>
          <p:nvPr/>
        </p:nvSpPr>
        <p:spPr>
          <a:xfrm>
            <a:off x="8498541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6" name="Shape 84"/>
          <p:cNvSpPr/>
          <p:nvPr/>
        </p:nvSpPr>
        <p:spPr>
          <a:xfrm>
            <a:off x="8717728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7" name="Shape 85"/>
          <p:cNvSpPr/>
          <p:nvPr/>
        </p:nvSpPr>
        <p:spPr>
          <a:xfrm>
            <a:off x="8936915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8" name="Shape 86"/>
          <p:cNvSpPr/>
          <p:nvPr/>
        </p:nvSpPr>
        <p:spPr>
          <a:xfrm>
            <a:off x="9156102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9" name="Shape 87"/>
          <p:cNvSpPr/>
          <p:nvPr/>
        </p:nvSpPr>
        <p:spPr>
          <a:xfrm>
            <a:off x="9375289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0" name="Shape 88"/>
          <p:cNvSpPr/>
          <p:nvPr/>
        </p:nvSpPr>
        <p:spPr>
          <a:xfrm>
            <a:off x="9594476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1" name="Shape 89"/>
          <p:cNvSpPr/>
          <p:nvPr/>
        </p:nvSpPr>
        <p:spPr>
          <a:xfrm>
            <a:off x="9813664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2" name="Shape 90"/>
          <p:cNvSpPr/>
          <p:nvPr/>
        </p:nvSpPr>
        <p:spPr>
          <a:xfrm>
            <a:off x="10032851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3" name="Shape 91"/>
          <p:cNvSpPr/>
          <p:nvPr/>
        </p:nvSpPr>
        <p:spPr>
          <a:xfrm>
            <a:off x="10252038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4" name="Shape 92"/>
          <p:cNvSpPr/>
          <p:nvPr/>
        </p:nvSpPr>
        <p:spPr>
          <a:xfrm>
            <a:off x="10471225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5" name="Shape 93"/>
          <p:cNvSpPr/>
          <p:nvPr/>
        </p:nvSpPr>
        <p:spPr>
          <a:xfrm>
            <a:off x="10690412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6" name="Shape 94"/>
          <p:cNvSpPr/>
          <p:nvPr/>
        </p:nvSpPr>
        <p:spPr>
          <a:xfrm>
            <a:off x="10909599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7" name="Shape 95"/>
          <p:cNvSpPr/>
          <p:nvPr/>
        </p:nvSpPr>
        <p:spPr>
          <a:xfrm>
            <a:off x="11128786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8" name="Shape 96"/>
          <p:cNvSpPr/>
          <p:nvPr/>
        </p:nvSpPr>
        <p:spPr>
          <a:xfrm>
            <a:off x="11347973" y="6510528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BACK OFFICE</a:t>
            </a:r>
            <a:endParaRPr lang="en-US" sz="900" dirty="0"/>
          </a:p>
        </p:txBody>
      </p:sp>
      <p:sp>
        <p:nvSpPr>
          <p:cNvPr id="100" name="Text 9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6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shared engine, three dedicated prompts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AF7EF"/>
          </a:solidFill>
          <a:ln w="15875">
            <a:solidFill>
              <a:srgbClr val="D2C7A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16712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2C7A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834640"/>
            <a:ext cx="2112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Owner fills a short form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65760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 collects only what that task needs — audience and tone, raw notes, or a task list.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355848" y="33375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38728" y="19659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AF7EF"/>
          </a:solidFill>
          <a:ln w="15875">
            <a:solidFill>
              <a:srgbClr val="D2C7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39896" y="216712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2C7A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739896" y="2834640"/>
            <a:ext cx="2112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dedicated system prompt is selected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739896" y="365760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meeting, and planner each have their own engineered prompt — role, constraints, output format, and guardrails.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071616" y="33375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54496" y="19659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AF7EF"/>
          </a:solidFill>
          <a:ln w="15875">
            <a:solidFill>
              <a:srgbClr val="D2C7A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216712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2C7A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2834640"/>
            <a:ext cx="2112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Claude drafts the output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365760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to the Claude API (claude-sonnet-4-6) with the matched system prompt and the owner's details.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787384" y="333756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70264" y="19659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AF7EF"/>
          </a:solidFill>
          <a:ln w="15875">
            <a:solidFill>
              <a:srgbClr val="D2C7A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71432" y="216712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2C7A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71432" y="2834640"/>
            <a:ext cx="2112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draft prints on the receipt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9171432" y="365760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output appears ready to copy, with a reminder to read it over before sending.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4406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76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guardrail across every tool: if the request can't be done responsibly, the assistant says so — it never guesses.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BACK OFFICE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6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LOOK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229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Designed like an old paper desk, not a chat window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4206240" cy="4114800"/>
          </a:xfrm>
          <a:prstGeom prst="roundRect">
            <a:avLst>
              <a:gd name="adj" fmla="val 1333"/>
            </a:avLst>
          </a:prstGeom>
          <a:solidFill>
            <a:srgbClr val="FAF7EF"/>
          </a:solidFill>
          <a:ln w="15875">
            <a:solidFill>
              <a:srgbClr val="D2C7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" name="Shape 4"/>
          <p:cNvSpPr/>
          <p:nvPr/>
        </p:nvSpPr>
        <p:spPr>
          <a:xfrm>
            <a:off x="1075765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" name="Shape 5"/>
          <p:cNvSpPr/>
          <p:nvPr/>
        </p:nvSpPr>
        <p:spPr>
          <a:xfrm>
            <a:off x="1191409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054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9" name="Shape 7"/>
          <p:cNvSpPr/>
          <p:nvPr/>
        </p:nvSpPr>
        <p:spPr>
          <a:xfrm>
            <a:off x="1422699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0" name="Shape 8"/>
          <p:cNvSpPr/>
          <p:nvPr/>
        </p:nvSpPr>
        <p:spPr>
          <a:xfrm>
            <a:off x="1538344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1" name="Shape 9"/>
          <p:cNvSpPr/>
          <p:nvPr/>
        </p:nvSpPr>
        <p:spPr>
          <a:xfrm>
            <a:off x="1653988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2" name="Shape 10"/>
          <p:cNvSpPr/>
          <p:nvPr/>
        </p:nvSpPr>
        <p:spPr>
          <a:xfrm>
            <a:off x="1769633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885278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4" name="Shape 12"/>
          <p:cNvSpPr/>
          <p:nvPr/>
        </p:nvSpPr>
        <p:spPr>
          <a:xfrm>
            <a:off x="2000922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5" name="Shape 13"/>
          <p:cNvSpPr/>
          <p:nvPr/>
        </p:nvSpPr>
        <p:spPr>
          <a:xfrm>
            <a:off x="2116567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6" name="Shape 14"/>
          <p:cNvSpPr/>
          <p:nvPr/>
        </p:nvSpPr>
        <p:spPr>
          <a:xfrm>
            <a:off x="2232212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7" name="Shape 15"/>
          <p:cNvSpPr/>
          <p:nvPr/>
        </p:nvSpPr>
        <p:spPr>
          <a:xfrm>
            <a:off x="2347856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8" name="Shape 16"/>
          <p:cNvSpPr/>
          <p:nvPr/>
        </p:nvSpPr>
        <p:spPr>
          <a:xfrm>
            <a:off x="2463501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19" name="Shape 17"/>
          <p:cNvSpPr/>
          <p:nvPr/>
        </p:nvSpPr>
        <p:spPr>
          <a:xfrm>
            <a:off x="2579146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4791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1" name="Shape 19"/>
          <p:cNvSpPr/>
          <p:nvPr/>
        </p:nvSpPr>
        <p:spPr>
          <a:xfrm>
            <a:off x="2810435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2" name="Shape 20"/>
          <p:cNvSpPr/>
          <p:nvPr/>
        </p:nvSpPr>
        <p:spPr>
          <a:xfrm>
            <a:off x="2926080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3" name="Shape 21"/>
          <p:cNvSpPr/>
          <p:nvPr/>
        </p:nvSpPr>
        <p:spPr>
          <a:xfrm>
            <a:off x="3041725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4" name="Shape 22"/>
          <p:cNvSpPr/>
          <p:nvPr/>
        </p:nvSpPr>
        <p:spPr>
          <a:xfrm>
            <a:off x="3157369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5" name="Shape 23"/>
          <p:cNvSpPr/>
          <p:nvPr/>
        </p:nvSpPr>
        <p:spPr>
          <a:xfrm>
            <a:off x="3273014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6" name="Shape 24"/>
          <p:cNvSpPr/>
          <p:nvPr/>
        </p:nvSpPr>
        <p:spPr>
          <a:xfrm>
            <a:off x="3388659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7" name="Shape 25"/>
          <p:cNvSpPr/>
          <p:nvPr/>
        </p:nvSpPr>
        <p:spPr>
          <a:xfrm>
            <a:off x="3504304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8" name="Shape 26"/>
          <p:cNvSpPr/>
          <p:nvPr/>
        </p:nvSpPr>
        <p:spPr>
          <a:xfrm>
            <a:off x="3619948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29" name="Shape 27"/>
          <p:cNvSpPr/>
          <p:nvPr/>
        </p:nvSpPr>
        <p:spPr>
          <a:xfrm>
            <a:off x="3735593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0" name="Shape 28"/>
          <p:cNvSpPr/>
          <p:nvPr/>
        </p:nvSpPr>
        <p:spPr>
          <a:xfrm>
            <a:off x="3851238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1" name="Shape 29"/>
          <p:cNvSpPr/>
          <p:nvPr/>
        </p:nvSpPr>
        <p:spPr>
          <a:xfrm>
            <a:off x="3966882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2" name="Shape 30"/>
          <p:cNvSpPr/>
          <p:nvPr/>
        </p:nvSpPr>
        <p:spPr>
          <a:xfrm>
            <a:off x="4082527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3" name="Shape 31"/>
          <p:cNvSpPr/>
          <p:nvPr/>
        </p:nvSpPr>
        <p:spPr>
          <a:xfrm>
            <a:off x="4198172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4" name="Shape 32"/>
          <p:cNvSpPr/>
          <p:nvPr/>
        </p:nvSpPr>
        <p:spPr>
          <a:xfrm>
            <a:off x="4313816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5" name="Shape 33"/>
          <p:cNvSpPr/>
          <p:nvPr/>
        </p:nvSpPr>
        <p:spPr>
          <a:xfrm>
            <a:off x="4429461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6" name="Shape 34"/>
          <p:cNvSpPr/>
          <p:nvPr/>
        </p:nvSpPr>
        <p:spPr>
          <a:xfrm>
            <a:off x="4545106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7" name="Shape 35"/>
          <p:cNvSpPr/>
          <p:nvPr/>
        </p:nvSpPr>
        <p:spPr>
          <a:xfrm>
            <a:off x="4660751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8" name="Shape 36"/>
          <p:cNvSpPr/>
          <p:nvPr/>
        </p:nvSpPr>
        <p:spPr>
          <a:xfrm>
            <a:off x="4776395" y="182880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39" name="Shape 37"/>
          <p:cNvSpPr/>
          <p:nvPr/>
        </p:nvSpPr>
        <p:spPr>
          <a:xfrm>
            <a:off x="960120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0" name="Shape 38"/>
          <p:cNvSpPr/>
          <p:nvPr/>
        </p:nvSpPr>
        <p:spPr>
          <a:xfrm>
            <a:off x="1075765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1" name="Shape 39"/>
          <p:cNvSpPr/>
          <p:nvPr/>
        </p:nvSpPr>
        <p:spPr>
          <a:xfrm>
            <a:off x="1191409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2" name="Shape 40"/>
          <p:cNvSpPr/>
          <p:nvPr/>
        </p:nvSpPr>
        <p:spPr>
          <a:xfrm>
            <a:off x="1307054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3" name="Shape 41"/>
          <p:cNvSpPr/>
          <p:nvPr/>
        </p:nvSpPr>
        <p:spPr>
          <a:xfrm>
            <a:off x="1422699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4" name="Shape 42"/>
          <p:cNvSpPr/>
          <p:nvPr/>
        </p:nvSpPr>
        <p:spPr>
          <a:xfrm>
            <a:off x="1538344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5" name="Shape 43"/>
          <p:cNvSpPr/>
          <p:nvPr/>
        </p:nvSpPr>
        <p:spPr>
          <a:xfrm>
            <a:off x="1653988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6" name="Shape 44"/>
          <p:cNvSpPr/>
          <p:nvPr/>
        </p:nvSpPr>
        <p:spPr>
          <a:xfrm>
            <a:off x="1769633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7" name="Shape 45"/>
          <p:cNvSpPr/>
          <p:nvPr/>
        </p:nvSpPr>
        <p:spPr>
          <a:xfrm>
            <a:off x="1885278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8" name="Shape 46"/>
          <p:cNvSpPr/>
          <p:nvPr/>
        </p:nvSpPr>
        <p:spPr>
          <a:xfrm>
            <a:off x="2000922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49" name="Shape 47"/>
          <p:cNvSpPr/>
          <p:nvPr/>
        </p:nvSpPr>
        <p:spPr>
          <a:xfrm>
            <a:off x="2116567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50" name="Shape 48"/>
          <p:cNvSpPr/>
          <p:nvPr/>
        </p:nvSpPr>
        <p:spPr>
          <a:xfrm>
            <a:off x="2232212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51" name="Shape 49"/>
          <p:cNvSpPr/>
          <p:nvPr/>
        </p:nvSpPr>
        <p:spPr>
          <a:xfrm>
            <a:off x="2347856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52" name="Shape 50"/>
          <p:cNvSpPr/>
          <p:nvPr/>
        </p:nvSpPr>
        <p:spPr>
          <a:xfrm>
            <a:off x="2463501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53" name="Shape 51"/>
          <p:cNvSpPr/>
          <p:nvPr/>
        </p:nvSpPr>
        <p:spPr>
          <a:xfrm>
            <a:off x="2579146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54" name="Shape 52"/>
          <p:cNvSpPr/>
          <p:nvPr/>
        </p:nvSpPr>
        <p:spPr>
          <a:xfrm>
            <a:off x="2694791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55" name="Shape 53"/>
          <p:cNvSpPr/>
          <p:nvPr/>
        </p:nvSpPr>
        <p:spPr>
          <a:xfrm>
            <a:off x="2810435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56" name="Shape 54"/>
          <p:cNvSpPr/>
          <p:nvPr/>
        </p:nvSpPr>
        <p:spPr>
          <a:xfrm>
            <a:off x="2926080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57" name="Shape 55"/>
          <p:cNvSpPr/>
          <p:nvPr/>
        </p:nvSpPr>
        <p:spPr>
          <a:xfrm>
            <a:off x="3041725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58" name="Shape 56"/>
          <p:cNvSpPr/>
          <p:nvPr/>
        </p:nvSpPr>
        <p:spPr>
          <a:xfrm>
            <a:off x="3157369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59" name="Shape 57"/>
          <p:cNvSpPr/>
          <p:nvPr/>
        </p:nvSpPr>
        <p:spPr>
          <a:xfrm>
            <a:off x="3273014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0" name="Shape 58"/>
          <p:cNvSpPr/>
          <p:nvPr/>
        </p:nvSpPr>
        <p:spPr>
          <a:xfrm>
            <a:off x="3388659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1" name="Shape 59"/>
          <p:cNvSpPr/>
          <p:nvPr/>
        </p:nvSpPr>
        <p:spPr>
          <a:xfrm>
            <a:off x="3504304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2" name="Shape 60"/>
          <p:cNvSpPr/>
          <p:nvPr/>
        </p:nvSpPr>
        <p:spPr>
          <a:xfrm>
            <a:off x="3619948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3" name="Shape 61"/>
          <p:cNvSpPr/>
          <p:nvPr/>
        </p:nvSpPr>
        <p:spPr>
          <a:xfrm>
            <a:off x="3735593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4" name="Shape 62"/>
          <p:cNvSpPr/>
          <p:nvPr/>
        </p:nvSpPr>
        <p:spPr>
          <a:xfrm>
            <a:off x="3851238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5" name="Shape 63"/>
          <p:cNvSpPr/>
          <p:nvPr/>
        </p:nvSpPr>
        <p:spPr>
          <a:xfrm>
            <a:off x="3966882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6" name="Shape 64"/>
          <p:cNvSpPr/>
          <p:nvPr/>
        </p:nvSpPr>
        <p:spPr>
          <a:xfrm>
            <a:off x="4082527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7" name="Shape 65"/>
          <p:cNvSpPr/>
          <p:nvPr/>
        </p:nvSpPr>
        <p:spPr>
          <a:xfrm>
            <a:off x="4198172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8" name="Shape 66"/>
          <p:cNvSpPr/>
          <p:nvPr/>
        </p:nvSpPr>
        <p:spPr>
          <a:xfrm>
            <a:off x="4313816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69" name="Shape 67"/>
          <p:cNvSpPr/>
          <p:nvPr/>
        </p:nvSpPr>
        <p:spPr>
          <a:xfrm>
            <a:off x="4429461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0" name="Shape 68"/>
          <p:cNvSpPr/>
          <p:nvPr/>
        </p:nvSpPr>
        <p:spPr>
          <a:xfrm>
            <a:off x="4545106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1" name="Shape 69"/>
          <p:cNvSpPr/>
          <p:nvPr/>
        </p:nvSpPr>
        <p:spPr>
          <a:xfrm>
            <a:off x="4660751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2" name="Shape 70"/>
          <p:cNvSpPr/>
          <p:nvPr/>
        </p:nvSpPr>
        <p:spPr>
          <a:xfrm>
            <a:off x="4776395" y="5897880"/>
            <a:ext cx="32004" cy="32004"/>
          </a:xfrm>
          <a:prstGeom prst="ellipse">
            <a:avLst/>
          </a:prstGeom>
          <a:solidFill>
            <a:srgbClr val="D9D0B8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114300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printing…</a:t>
            </a:r>
            <a:endParaRPr lang="en-US" sz="1100" dirty="0"/>
          </a:p>
        </p:txBody>
      </p:sp>
      <p:sp>
        <p:nvSpPr>
          <p:cNvPr id="74" name="Text 72"/>
          <p:cNvSpPr txBox="1"/>
          <p:nvPr/>
        </p:nvSpPr>
        <p:spPr>
          <a:xfrm>
            <a:off x="1143000" y="256032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32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Delivery timing &amp; this month's invoice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32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 team,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32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last delivery arrived two days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32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behind schedule…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1143000" y="5257800"/>
            <a:ext cx="1554480" cy="365760"/>
          </a:xfrm>
          <a:prstGeom prst="roundRect">
            <a:avLst>
              <a:gd name="adj" fmla="val 15000"/>
            </a:avLst>
          </a:prstGeom>
          <a:solidFill>
            <a:srgbClr val="A63A2E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1143000" y="5257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AF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 EMAIL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349240" y="1828800"/>
            <a:ext cx="146304" cy="822960"/>
          </a:xfrm>
          <a:prstGeom prst="roundRect">
            <a:avLst>
              <a:gd name="adj" fmla="val 18750"/>
            </a:avLst>
          </a:prstGeom>
          <a:solidFill>
            <a:srgbClr val="A63A2E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5715000" y="1828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Stamps &amp; tabs, not buttons</a:t>
            </a:r>
            <a:endParaRPr lang="en-US" sz="1600" dirty="0"/>
          </a:p>
        </p:txBody>
      </p:sp>
      <p:sp>
        <p:nvSpPr>
          <p:cNvPr id="79" name="Text 77"/>
          <p:cNvSpPr txBox="1"/>
          <p:nvPr/>
        </p:nvSpPr>
        <p:spPr>
          <a:xfrm>
            <a:off x="5715000" y="22128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tab folders and an ink stamp date badge stand in for typical app chrome.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349240" y="2834640"/>
            <a:ext cx="146304" cy="822960"/>
          </a:xfrm>
          <a:prstGeom prst="roundRect">
            <a:avLst>
              <a:gd name="adj" fmla="val 18750"/>
            </a:avLst>
          </a:prstGeom>
          <a:solidFill>
            <a:srgbClr val="47614F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5715000" y="2834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accent per tool</a:t>
            </a:r>
            <a:endParaRPr lang="en-US" sz="1600" dirty="0"/>
          </a:p>
        </p:txBody>
      </p:sp>
      <p:sp>
        <p:nvSpPr>
          <p:cNvPr id="82" name="Text 80"/>
          <p:cNvSpPr txBox="1"/>
          <p:nvPr/>
        </p:nvSpPr>
        <p:spPr>
          <a:xfrm>
            <a:off x="5715000" y="32186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for email, green for meeting notes, ochre for the planner — color tells you which tab you're in.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5349240" y="3840480"/>
            <a:ext cx="146304" cy="822960"/>
          </a:xfrm>
          <a:prstGeom prst="roundRect">
            <a:avLst>
              <a:gd name="adj" fmla="val 18750"/>
            </a:avLst>
          </a:prstGeom>
          <a:solidFill>
            <a:srgbClr val="8A6015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5715000" y="3840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Monospace, ledger-style type</a:t>
            </a:r>
            <a:endParaRPr lang="en-US" sz="1600" dirty="0"/>
          </a:p>
        </p:txBody>
      </p:sp>
      <p:sp>
        <p:nvSpPr>
          <p:cNvPr id="85" name="Text 83"/>
          <p:cNvSpPr txBox="1"/>
          <p:nvPr/>
        </p:nvSpPr>
        <p:spPr>
          <a:xfrm>
            <a:off x="5715000" y="42245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Plex Mono throughout echoes typewritten office forms and dot-matrix receipts.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5349240" y="4846320"/>
            <a:ext cx="146304" cy="822960"/>
          </a:xfrm>
          <a:prstGeom prst="roundRect">
            <a:avLst>
              <a:gd name="adj" fmla="val 18750"/>
            </a:avLst>
          </a:prstGeom>
          <a:solidFill>
            <a:srgbClr val="6A6A5C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5715000" y="4846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9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Output looks like a printed receipt</a:t>
            </a:r>
            <a:endParaRPr lang="en-US" sz="1600" dirty="0"/>
          </a:p>
        </p:txBody>
      </p:sp>
      <p:sp>
        <p:nvSpPr>
          <p:cNvPr id="88" name="Text 86"/>
          <p:cNvSpPr txBox="1"/>
          <p:nvPr/>
        </p:nvSpPr>
        <p:spPr>
          <a:xfrm>
            <a:off x="5715000" y="52303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Perforated edges and a “printing…” state make the AI's answer feel handed to you, not streamed.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BACK OFFICE</a:t>
            </a:r>
            <a:endParaRPr lang="en-US" sz="900" dirty="0"/>
          </a:p>
        </p:txBody>
      </p:sp>
      <p:sp>
        <p:nvSpPr>
          <p:cNvPr id="90" name="Text 88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3A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CAPACITI  ·  AI SKILL ACCELERATOR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6974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FE9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5" name="Shape 3"/>
          <p:cNvSpPr/>
          <p:nvPr/>
        </p:nvSpPr>
        <p:spPr>
          <a:xfrm>
            <a:off x="1132242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6" name="Shape 4"/>
          <p:cNvSpPr/>
          <p:nvPr/>
        </p:nvSpPr>
        <p:spPr>
          <a:xfrm>
            <a:off x="1441525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7" name="Shape 5"/>
          <p:cNvSpPr/>
          <p:nvPr/>
        </p:nvSpPr>
        <p:spPr>
          <a:xfrm>
            <a:off x="1750807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8" name="Shape 6"/>
          <p:cNvSpPr/>
          <p:nvPr/>
        </p:nvSpPr>
        <p:spPr>
          <a:xfrm>
            <a:off x="2060089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9" name="Shape 7"/>
          <p:cNvSpPr/>
          <p:nvPr/>
        </p:nvSpPr>
        <p:spPr>
          <a:xfrm>
            <a:off x="2369372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0" name="Shape 8"/>
          <p:cNvSpPr/>
          <p:nvPr/>
        </p:nvSpPr>
        <p:spPr>
          <a:xfrm>
            <a:off x="2678654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1" name="Shape 9"/>
          <p:cNvSpPr/>
          <p:nvPr/>
        </p:nvSpPr>
        <p:spPr>
          <a:xfrm>
            <a:off x="2987936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7219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3" name="Shape 11"/>
          <p:cNvSpPr/>
          <p:nvPr/>
        </p:nvSpPr>
        <p:spPr>
          <a:xfrm>
            <a:off x="3606501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4" name="Shape 12"/>
          <p:cNvSpPr/>
          <p:nvPr/>
        </p:nvSpPr>
        <p:spPr>
          <a:xfrm>
            <a:off x="3915784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5" name="Shape 13"/>
          <p:cNvSpPr/>
          <p:nvPr/>
        </p:nvSpPr>
        <p:spPr>
          <a:xfrm>
            <a:off x="4225066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34348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3631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8" name="Shape 16"/>
          <p:cNvSpPr/>
          <p:nvPr/>
        </p:nvSpPr>
        <p:spPr>
          <a:xfrm>
            <a:off x="5152913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19" name="Shape 17"/>
          <p:cNvSpPr/>
          <p:nvPr/>
        </p:nvSpPr>
        <p:spPr>
          <a:xfrm>
            <a:off x="5462195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0" name="Shape 18"/>
          <p:cNvSpPr/>
          <p:nvPr/>
        </p:nvSpPr>
        <p:spPr>
          <a:xfrm>
            <a:off x="5771478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0760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2" name="Shape 20"/>
          <p:cNvSpPr/>
          <p:nvPr/>
        </p:nvSpPr>
        <p:spPr>
          <a:xfrm>
            <a:off x="6390042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3" name="Shape 21"/>
          <p:cNvSpPr/>
          <p:nvPr/>
        </p:nvSpPr>
        <p:spPr>
          <a:xfrm>
            <a:off x="6699325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4" name="Shape 22"/>
          <p:cNvSpPr/>
          <p:nvPr/>
        </p:nvSpPr>
        <p:spPr>
          <a:xfrm>
            <a:off x="7008607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7889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6" name="Shape 24"/>
          <p:cNvSpPr/>
          <p:nvPr/>
        </p:nvSpPr>
        <p:spPr>
          <a:xfrm>
            <a:off x="7627172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7" name="Shape 25"/>
          <p:cNvSpPr/>
          <p:nvPr/>
        </p:nvSpPr>
        <p:spPr>
          <a:xfrm>
            <a:off x="7936454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8" name="Shape 26"/>
          <p:cNvSpPr/>
          <p:nvPr/>
        </p:nvSpPr>
        <p:spPr>
          <a:xfrm>
            <a:off x="8245736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29" name="Shape 27"/>
          <p:cNvSpPr/>
          <p:nvPr/>
        </p:nvSpPr>
        <p:spPr>
          <a:xfrm>
            <a:off x="8555019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0" name="Shape 28"/>
          <p:cNvSpPr/>
          <p:nvPr/>
        </p:nvSpPr>
        <p:spPr>
          <a:xfrm>
            <a:off x="8864301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1" name="Shape 29"/>
          <p:cNvSpPr/>
          <p:nvPr/>
        </p:nvSpPr>
        <p:spPr>
          <a:xfrm>
            <a:off x="9173584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2" name="Shape 30"/>
          <p:cNvSpPr/>
          <p:nvPr/>
        </p:nvSpPr>
        <p:spPr>
          <a:xfrm>
            <a:off x="9482866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3" name="Shape 31"/>
          <p:cNvSpPr/>
          <p:nvPr/>
        </p:nvSpPr>
        <p:spPr>
          <a:xfrm>
            <a:off x="9792148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01431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10713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6" name="Shape 34"/>
          <p:cNvSpPr/>
          <p:nvPr/>
        </p:nvSpPr>
        <p:spPr>
          <a:xfrm>
            <a:off x="10719995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7" name="Shape 35"/>
          <p:cNvSpPr/>
          <p:nvPr/>
        </p:nvSpPr>
        <p:spPr>
          <a:xfrm>
            <a:off x="11029278" y="3977640"/>
            <a:ext cx="32004" cy="32004"/>
          </a:xfrm>
          <a:prstGeom prst="ellipse">
            <a:avLst/>
          </a:prstGeom>
          <a:solidFill>
            <a:srgbClr val="45503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2960" y="4206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“Drafts are a starting point — read them over before you send, share, or act on them.”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9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Simphiwe Khumalo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Back Office — AI Workplace Productivity Assistant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2026-08-27T07:39:57Z</dcterms:created>
  <dcterms:modified xsi:type="dcterms:W3CDTF">2026-08-27T07:39:57Z</dcterms:modified>
</cp:coreProperties>
</file>